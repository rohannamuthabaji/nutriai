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8229600" cx="14630400"/>
  <p:notesSz cx="8229600" cy="14630400"/>
  <p:embeddedFontLst>
    <p:embeddedFont>
      <p:font typeface="Lato"/>
      <p:bold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Lato-boldItalic.fntdata"/><Relationship Id="rId16" Type="http://schemas.openxmlformats.org/officeDocument/2006/relationships/font" Target="fonts/Lat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d66dac991d_0_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d66dac991d_0_1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d66dac991d_0_1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1.png"/><Relationship Id="rId7" Type="http://schemas.openxmlformats.org/officeDocument/2006/relationships/hyperlink" Target="https://rohannamuthabaji.github.io/NutriAi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48" y="170021"/>
            <a:ext cx="5259705" cy="788955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/>
          <p:nvPr/>
        </p:nvSpPr>
        <p:spPr>
          <a:xfrm>
            <a:off x="5796090" y="401604"/>
            <a:ext cx="75564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4450"/>
              <a:buFont typeface="Lato"/>
              <a:buNone/>
            </a:pPr>
            <a:r>
              <a:rPr b="1" i="0" lang="en-US" sz="445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NutriAI: AI-Assisted Smart Diet Planner</a:t>
            </a:r>
            <a:endParaRPr b="0" i="0" sz="4450" u="none" cap="none" strike="noStrike"/>
          </a:p>
        </p:txBody>
      </p:sp>
      <p:sp>
        <p:nvSpPr>
          <p:cNvPr id="59" name="Google Shape;59;p13"/>
          <p:cNvSpPr/>
          <p:nvPr/>
        </p:nvSpPr>
        <p:spPr>
          <a:xfrm>
            <a:off x="5796100" y="2099050"/>
            <a:ext cx="8365200" cy="57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750"/>
              <a:buFont typeface="Lato"/>
              <a:buNone/>
            </a:pPr>
            <a:r>
              <a:rPr b="1" i="0" lang="en-US" sz="23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 collaborative project exploring AI-driven personalized nutrition solutions.</a:t>
            </a:r>
            <a:endParaRPr b="1" i="0" sz="2350" u="none" cap="none" strike="noStrike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750"/>
              <a:buFont typeface="Lato"/>
              <a:buNone/>
            </a:pPr>
            <a:r>
              <a:rPr b="1" lang="en-US" sz="2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Presented By</a:t>
            </a:r>
            <a:r>
              <a:rPr lang="en-US" sz="2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: 2303A51064(N.Rohan)</a:t>
            </a:r>
            <a:endParaRPr sz="235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750"/>
              <a:buFont typeface="Lato"/>
              <a:buNone/>
            </a:pPr>
            <a:r>
              <a:rPr lang="en-US" sz="2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                                2303A51071(P.LAHARI)</a:t>
            </a:r>
            <a:endParaRPr sz="235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750"/>
              <a:buFont typeface="Lato"/>
              <a:buNone/>
            </a:pPr>
            <a:r>
              <a:rPr lang="en-US" sz="2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                                2303A51053(G.VARSHITHA REDDY)</a:t>
            </a:r>
            <a:endParaRPr sz="235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750"/>
              <a:buFont typeface="Lato"/>
              <a:buNone/>
            </a:pPr>
            <a:r>
              <a:rPr lang="en-US" sz="2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                                2303A51058(K.UJWAL REDDY)</a:t>
            </a:r>
            <a:endParaRPr sz="235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50">
                <a:solidFill>
                  <a:schemeClr val="dk1"/>
                </a:solidFill>
              </a:rPr>
              <a:t>Course:</a:t>
            </a:r>
            <a:r>
              <a:rPr lang="en-US" sz="2350">
                <a:solidFill>
                  <a:schemeClr val="dk1"/>
                </a:solidFill>
              </a:rPr>
              <a:t> B.Tech – Computer Science</a:t>
            </a:r>
            <a:endParaRPr sz="23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50">
                <a:solidFill>
                  <a:schemeClr val="dk1"/>
                </a:solidFill>
              </a:rPr>
              <a:t>College:</a:t>
            </a:r>
            <a:r>
              <a:rPr lang="en-US" sz="2350">
                <a:solidFill>
                  <a:schemeClr val="dk1"/>
                </a:solidFill>
              </a:rPr>
              <a:t> SR UNIVERSITY</a:t>
            </a:r>
            <a:endParaRPr sz="23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750"/>
              <a:buFont typeface="Lato"/>
              <a:buNone/>
            </a:pPr>
            <a:r>
              <a:rPr b="1" lang="en-US" sz="2350">
                <a:solidFill>
                  <a:schemeClr val="dk1"/>
                </a:solidFill>
              </a:rPr>
              <a:t>Academic Year:</a:t>
            </a:r>
            <a:r>
              <a:rPr lang="en-US" sz="2350">
                <a:solidFill>
                  <a:schemeClr val="dk1"/>
                </a:solidFill>
              </a:rPr>
              <a:t> 2025–2026</a:t>
            </a:r>
            <a:endParaRPr sz="235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750"/>
              <a:buFont typeface="Lato"/>
              <a:buNone/>
            </a:pPr>
            <a:r>
              <a:t/>
            </a:r>
            <a:endParaRPr sz="235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750"/>
              <a:buFont typeface="Lato"/>
              <a:buNone/>
            </a:pPr>
            <a:r>
              <a:rPr lang="en-US" sz="2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                            </a:t>
            </a:r>
            <a:endParaRPr sz="235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750"/>
              <a:buFont typeface="Lato"/>
              <a:buNone/>
            </a:pPr>
            <a:r>
              <a:t/>
            </a:r>
            <a:endParaRPr sz="205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76" y="164663"/>
            <a:ext cx="5266849" cy="7900273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/>
          <p:nvPr/>
        </p:nvSpPr>
        <p:spPr>
          <a:xfrm>
            <a:off x="5771350" y="491000"/>
            <a:ext cx="7839900" cy="13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4300"/>
              <a:buFont typeface="Lato"/>
              <a:buNone/>
            </a:pPr>
            <a:r>
              <a:rPr b="1" i="0" lang="en-US" sz="430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Project Overview: </a:t>
            </a:r>
            <a:r>
              <a:rPr b="1" lang="en-US" sz="4300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 NutriAI Smart Diet Planner</a:t>
            </a:r>
            <a:endParaRPr b="0" i="0" sz="4300" u="none" cap="none" strike="noStrike"/>
          </a:p>
        </p:txBody>
      </p:sp>
      <p:sp>
        <p:nvSpPr>
          <p:cNvPr id="68" name="Google Shape;68;p14"/>
          <p:cNvSpPr/>
          <p:nvPr/>
        </p:nvSpPr>
        <p:spPr>
          <a:xfrm>
            <a:off x="6137675" y="2136575"/>
            <a:ext cx="3814200" cy="3581700"/>
          </a:xfrm>
          <a:prstGeom prst="roundRect">
            <a:avLst>
              <a:gd fmla="val 2915" name="adj"/>
            </a:avLst>
          </a:prstGeom>
          <a:solidFill>
            <a:srgbClr val="EFECE6"/>
          </a:solidFill>
          <a:ln cap="flat" cmpd="sng" w="30475">
            <a:solidFill>
              <a:srgbClr val="CBC5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6255425" y="2306390"/>
            <a:ext cx="27468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150"/>
              <a:buFont typeface="Lato"/>
              <a:buNone/>
            </a:pPr>
            <a:r>
              <a:rPr b="1" lang="en-US" sz="21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What is NutriAI?</a:t>
            </a:r>
            <a:endParaRPr b="0" i="0" sz="2150" u="none" cap="none" strike="noStrike"/>
          </a:p>
        </p:txBody>
      </p:sp>
      <p:sp>
        <p:nvSpPr>
          <p:cNvPr id="70" name="Google Shape;70;p14"/>
          <p:cNvSpPr/>
          <p:nvPr/>
        </p:nvSpPr>
        <p:spPr>
          <a:xfrm>
            <a:off x="6227450" y="2738525"/>
            <a:ext cx="3491100" cy="29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 smart web application for personalized diet planning</a:t>
            </a:r>
            <a:endParaRPr sz="150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Generates customized 7-day diet plans</a:t>
            </a:r>
            <a:endParaRPr sz="150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Uses BMI and TDEE for accurate recommendations</a:t>
            </a:r>
            <a:endParaRPr sz="150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Supports vegetarian and non-vegetarian preferences</a:t>
            </a:r>
            <a:endParaRPr sz="150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00"/>
              <a:buFont typeface="Lato"/>
              <a:buChar char="●"/>
            </a:pPr>
            <a:r>
              <a:t/>
            </a:r>
            <a:endParaRPr sz="150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10459600" y="2136575"/>
            <a:ext cx="3814200" cy="3605100"/>
          </a:xfrm>
          <a:prstGeom prst="roundRect">
            <a:avLst>
              <a:gd fmla="val 972" name="adj"/>
            </a:avLst>
          </a:prstGeom>
          <a:solidFill>
            <a:srgbClr val="EFECE6"/>
          </a:solidFill>
          <a:ln cap="flat" cmpd="sng" w="30475">
            <a:solidFill>
              <a:srgbClr val="CBC5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10603150" y="2306396"/>
            <a:ext cx="28860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150"/>
              <a:buFont typeface="Lato"/>
              <a:buNone/>
            </a:pPr>
            <a:r>
              <a:rPr b="1" lang="en-US" sz="21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The Problem</a:t>
            </a:r>
            <a:endParaRPr b="0" i="0" sz="2150" u="none" cap="none" strike="noStrike"/>
          </a:p>
        </p:txBody>
      </p:sp>
      <p:sp>
        <p:nvSpPr>
          <p:cNvPr id="73" name="Google Shape;73;p14"/>
          <p:cNvSpPr/>
          <p:nvPr/>
        </p:nvSpPr>
        <p:spPr>
          <a:xfrm>
            <a:off x="10603150" y="2738525"/>
            <a:ext cx="3491100" cy="25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Many people struggle to maintain a balanced diet</a:t>
            </a:r>
            <a:endParaRPr sz="150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Lack of awareness about proper nutrition and fitness</a:t>
            </a:r>
            <a:endParaRPr sz="150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Difficulty in creating structured meal plans</a:t>
            </a:r>
            <a:endParaRPr sz="150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6255425" y="5931226"/>
            <a:ext cx="7839900" cy="1918800"/>
          </a:xfrm>
          <a:prstGeom prst="roundRect">
            <a:avLst>
              <a:gd fmla="val 1982" name="adj"/>
            </a:avLst>
          </a:prstGeom>
          <a:solidFill>
            <a:srgbClr val="EFECE6"/>
          </a:solidFill>
          <a:ln cap="flat" cmpd="sng" w="30475">
            <a:solidFill>
              <a:srgbClr val="CBC5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6505575" y="6181373"/>
            <a:ext cx="40977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150"/>
              <a:buFont typeface="Lato"/>
              <a:buNone/>
            </a:pPr>
            <a:r>
              <a:rPr b="1" i="0" lang="en-US" sz="21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Current Tools Are Limited</a:t>
            </a:r>
            <a:endParaRPr b="0" i="0" sz="2150" u="none" cap="none" strike="noStrike"/>
          </a:p>
        </p:txBody>
      </p:sp>
      <p:sp>
        <p:nvSpPr>
          <p:cNvPr id="76" name="Google Shape;76;p14"/>
          <p:cNvSpPr/>
          <p:nvPr/>
        </p:nvSpPr>
        <p:spPr>
          <a:xfrm>
            <a:off x="6505575" y="6652260"/>
            <a:ext cx="7105650" cy="692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Existing apps lack proper customization</a:t>
            </a:r>
            <a:endParaRPr sz="150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Limited integration of diet, BMI, and fitness together</a:t>
            </a:r>
            <a:endParaRPr sz="150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NutriAI solves this using AI-assisted development</a:t>
            </a:r>
            <a:endParaRPr sz="150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/>
          <p:nvPr/>
        </p:nvSpPr>
        <p:spPr>
          <a:xfrm>
            <a:off x="769025" y="634603"/>
            <a:ext cx="13092351" cy="1373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4300"/>
              <a:buFont typeface="Lato"/>
              <a:buNone/>
            </a:pPr>
            <a:r>
              <a:rPr b="1" i="0" lang="en-US" sz="430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NutriAI's Objectives: </a:t>
            </a:r>
            <a:r>
              <a:rPr b="1" lang="en-US" sz="4300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NutriAI Smart Diet Planner</a:t>
            </a:r>
            <a:endParaRPr b="0" i="0" sz="4300" u="none" cap="none" strike="noStrike"/>
          </a:p>
        </p:txBody>
      </p:sp>
      <p:sp>
        <p:nvSpPr>
          <p:cNvPr id="83" name="Google Shape;83;p15"/>
          <p:cNvSpPr/>
          <p:nvPr/>
        </p:nvSpPr>
        <p:spPr>
          <a:xfrm>
            <a:off x="769025" y="1745581"/>
            <a:ext cx="6439800" cy="2474400"/>
          </a:xfrm>
          <a:prstGeom prst="roundRect">
            <a:avLst>
              <a:gd fmla="val 1332" name="adj"/>
            </a:avLst>
          </a:pr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992925" y="2007874"/>
            <a:ext cx="3909900" cy="6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150"/>
              <a:buFont typeface="Lato"/>
              <a:buNone/>
            </a:pPr>
            <a:r>
              <a:rPr b="1" lang="en-US" sz="2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Personalized Diet Planning</a:t>
            </a:r>
            <a:endParaRPr b="0" i="0" sz="2350" u="none" cap="none" strike="noStrike"/>
          </a:p>
        </p:txBody>
      </p:sp>
      <p:sp>
        <p:nvSpPr>
          <p:cNvPr id="85" name="Google Shape;85;p15"/>
          <p:cNvSpPr/>
          <p:nvPr/>
        </p:nvSpPr>
        <p:spPr>
          <a:xfrm>
            <a:off x="988632" y="2524576"/>
            <a:ext cx="6000300" cy="6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900"/>
              <a:buFont typeface="Lato"/>
              <a:buChar char="●"/>
            </a:pPr>
            <a:r>
              <a:rPr lang="en-US" sz="19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Generate customized 7-day diet plans</a:t>
            </a:r>
            <a:endParaRPr sz="190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9250" lvl="0" marL="45720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900"/>
              <a:buFont typeface="Lato"/>
              <a:buChar char="●"/>
            </a:pPr>
            <a:r>
              <a:rPr lang="en-US" sz="19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Adapt based on user goals and preferences</a:t>
            </a:r>
            <a:endParaRPr sz="190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9250" lvl="0" marL="45720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900"/>
              <a:buFont typeface="Lato"/>
              <a:buChar char="●"/>
            </a:pPr>
            <a:r>
              <a:rPr lang="en-US" sz="19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Support vegetarian and non-vegetarian options</a:t>
            </a:r>
            <a:endParaRPr sz="190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7537698" y="1745593"/>
            <a:ext cx="6439800" cy="2474400"/>
          </a:xfrm>
          <a:prstGeom prst="roundRect">
            <a:avLst>
              <a:gd fmla="val 1332" name="adj"/>
            </a:avLst>
          </a:pr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7781928" y="2007853"/>
            <a:ext cx="39099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150"/>
              <a:buFont typeface="Lato"/>
              <a:buNone/>
            </a:pPr>
            <a:r>
              <a:rPr b="1" lang="en-US" sz="21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Health &amp; Fitness Awareness</a:t>
            </a:r>
            <a:endParaRPr b="0" i="0" sz="2150" u="none" cap="none" strike="noStrike"/>
          </a:p>
        </p:txBody>
      </p:sp>
      <p:sp>
        <p:nvSpPr>
          <p:cNvPr id="88" name="Google Shape;88;p15"/>
          <p:cNvSpPr/>
          <p:nvPr/>
        </p:nvSpPr>
        <p:spPr>
          <a:xfrm>
            <a:off x="7757275" y="2636733"/>
            <a:ext cx="6000300" cy="11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900"/>
              <a:buFont typeface="Lato"/>
              <a:buChar char="●"/>
            </a:pPr>
            <a:r>
              <a:rPr lang="en-US" sz="19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Promote healthy eating habits</a:t>
            </a:r>
            <a:endParaRPr sz="190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9250" lvl="0" marL="45720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900"/>
              <a:buFont typeface="Lato"/>
              <a:buChar char="●"/>
            </a:pPr>
            <a:r>
              <a:rPr lang="en-US" sz="19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Encourage balanced nutrition and lifestyle</a:t>
            </a:r>
            <a:endParaRPr sz="190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9250" lvl="0" marL="45720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900"/>
              <a:buFont typeface="Lato"/>
              <a:buChar char="●"/>
            </a:pPr>
            <a:r>
              <a:rPr lang="en-US" sz="19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Provide simple and practical health guidance</a:t>
            </a:r>
            <a:endParaRPr sz="190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769063" y="4900965"/>
            <a:ext cx="6439800" cy="2474400"/>
          </a:xfrm>
          <a:prstGeom prst="roundRect">
            <a:avLst>
              <a:gd fmla="val 1332" name="adj"/>
            </a:avLst>
          </a:pr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/>
          <p:nvPr/>
        </p:nvSpPr>
        <p:spPr>
          <a:xfrm>
            <a:off x="988628" y="5120625"/>
            <a:ext cx="43791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150"/>
              <a:buFont typeface="Lato"/>
              <a:buNone/>
            </a:pPr>
            <a:r>
              <a:rPr b="1" lang="en-US" sz="21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Automation &amp; Accuracy</a:t>
            </a:r>
            <a:endParaRPr b="0" i="0" sz="2150" u="none" cap="none" strike="noStrike"/>
          </a:p>
        </p:txBody>
      </p:sp>
      <p:sp>
        <p:nvSpPr>
          <p:cNvPr id="91" name="Google Shape;91;p15"/>
          <p:cNvSpPr/>
          <p:nvPr/>
        </p:nvSpPr>
        <p:spPr>
          <a:xfrm>
            <a:off x="988620" y="5792122"/>
            <a:ext cx="6000300" cy="6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900"/>
              <a:buFont typeface="Lato"/>
              <a:buChar char="●"/>
            </a:pPr>
            <a:r>
              <a:rPr lang="en-US" sz="19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Automatically calculate BMI and TDEE</a:t>
            </a:r>
            <a:endParaRPr sz="190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9250" lvl="0" marL="45720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900"/>
              <a:buFont typeface="Lato"/>
              <a:buChar char="●"/>
            </a:pPr>
            <a:r>
              <a:rPr lang="en-US" sz="19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Reduce manual effort in diet planning</a:t>
            </a:r>
            <a:endParaRPr sz="190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9250" lvl="0" marL="45720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900"/>
              <a:buFont typeface="Lato"/>
              <a:buChar char="●"/>
            </a:pPr>
            <a:r>
              <a:rPr lang="en-US" sz="19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Provide accurate and structured recommendations</a:t>
            </a:r>
            <a:endParaRPr sz="190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7537673" y="4900990"/>
            <a:ext cx="6439800" cy="2474400"/>
          </a:xfrm>
          <a:prstGeom prst="roundRect">
            <a:avLst>
              <a:gd fmla="val 1332" name="adj"/>
            </a:avLst>
          </a:pr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7641279" y="5120622"/>
            <a:ext cx="46974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150"/>
              <a:buFont typeface="Lato"/>
              <a:buNone/>
            </a:pPr>
            <a:r>
              <a:rPr b="1" lang="en-US" sz="21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AI-Assisted Development</a:t>
            </a:r>
            <a:endParaRPr b="0" i="0" sz="2150" u="none" cap="none" strike="noStrike"/>
          </a:p>
        </p:txBody>
      </p:sp>
      <p:sp>
        <p:nvSpPr>
          <p:cNvPr id="94" name="Google Shape;94;p15"/>
          <p:cNvSpPr/>
          <p:nvPr/>
        </p:nvSpPr>
        <p:spPr>
          <a:xfrm>
            <a:off x="7641268" y="5792122"/>
            <a:ext cx="6000600" cy="6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900"/>
              <a:buFont typeface="Lato"/>
              <a:buChar char="●"/>
            </a:pPr>
            <a:r>
              <a:rPr lang="en-US" sz="19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Use AI tools for code generation</a:t>
            </a:r>
            <a:endParaRPr sz="190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9250" lvl="0" marL="45720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900"/>
              <a:buFont typeface="Lato"/>
              <a:buChar char="●"/>
            </a:pPr>
            <a:r>
              <a:rPr lang="en-US" sz="19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Improve development speed and efficiency</a:t>
            </a:r>
            <a:endParaRPr sz="190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9250" lvl="0" marL="45720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900"/>
              <a:buFont typeface="Lato"/>
              <a:buChar char="●"/>
            </a:pPr>
            <a:r>
              <a:rPr lang="en-US" sz="19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Enhance overall application functionality</a:t>
            </a:r>
            <a:endParaRPr sz="190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/>
          <p:nvPr/>
        </p:nvSpPr>
        <p:spPr>
          <a:xfrm>
            <a:off x="503325" y="527025"/>
            <a:ext cx="111963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4450"/>
              <a:buFont typeface="Lato"/>
              <a:buNone/>
            </a:pPr>
            <a:r>
              <a:rPr b="1" i="0" lang="en-US" sz="405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Key Stakeholders: A Collaborative Ecosystem</a:t>
            </a:r>
            <a:endParaRPr b="0" i="0" sz="4050" u="none" cap="none" strike="noStrike"/>
          </a:p>
        </p:txBody>
      </p:sp>
      <p:pic>
        <p:nvPicPr>
          <p:cNvPr descr="preencoded.png" id="101" name="Google Shape;10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515" y="1665204"/>
            <a:ext cx="680442" cy="68044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6"/>
          <p:cNvSpPr/>
          <p:nvPr/>
        </p:nvSpPr>
        <p:spPr>
          <a:xfrm>
            <a:off x="1583452" y="1665199"/>
            <a:ext cx="42102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200"/>
              <a:buFont typeface="Lato"/>
              <a:buNone/>
            </a:pPr>
            <a:r>
              <a:rPr b="1" lang="en-US" sz="22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Health-Conscious Users</a:t>
            </a:r>
            <a:endParaRPr b="0" i="0" sz="2200" u="none" cap="none" strike="noStrike"/>
          </a:p>
        </p:txBody>
      </p:sp>
      <p:sp>
        <p:nvSpPr>
          <p:cNvPr id="103" name="Google Shape;103;p16"/>
          <p:cNvSpPr/>
          <p:nvPr/>
        </p:nvSpPr>
        <p:spPr>
          <a:xfrm>
            <a:off x="1583445" y="2155623"/>
            <a:ext cx="54156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6075" lvl="0" marL="4572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850"/>
              <a:buFont typeface="Lato"/>
              <a:buChar char="●"/>
            </a:pPr>
            <a:r>
              <a:rPr lang="en-US" sz="18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Individuals seeking personalized diet plans</a:t>
            </a:r>
            <a:endParaRPr sz="185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6075" lvl="0" marL="4572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850"/>
              <a:buFont typeface="Lato"/>
              <a:buChar char="●"/>
            </a:pPr>
            <a:r>
              <a:rPr lang="en-US" sz="18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Users aiming to improve lifestyle and nutrition</a:t>
            </a:r>
            <a:endParaRPr sz="185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6075" lvl="0" marL="4572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850"/>
              <a:buFont typeface="Lato"/>
              <a:buChar char="●"/>
            </a:pPr>
            <a:r>
              <a:rPr lang="en-US" sz="18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People looking for simple health guidance</a:t>
            </a:r>
            <a:endParaRPr sz="185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104" name="Google Shape;1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2434" y="1665204"/>
            <a:ext cx="680442" cy="68044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/>
          <p:nvPr/>
        </p:nvSpPr>
        <p:spPr>
          <a:xfrm>
            <a:off x="8556364" y="1665204"/>
            <a:ext cx="45486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200"/>
              <a:buFont typeface="Lato"/>
              <a:buNone/>
            </a:pPr>
            <a:r>
              <a:rPr b="1" lang="en-US" sz="22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Fitness Enthusiasts</a:t>
            </a:r>
            <a:endParaRPr b="0" i="0" sz="2200" u="none" cap="none" strike="noStrike"/>
          </a:p>
        </p:txBody>
      </p:sp>
      <p:sp>
        <p:nvSpPr>
          <p:cNvPr id="106" name="Google Shape;106;p16"/>
          <p:cNvSpPr/>
          <p:nvPr/>
        </p:nvSpPr>
        <p:spPr>
          <a:xfrm>
            <a:off x="8556364" y="2155623"/>
            <a:ext cx="54159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6075" lvl="0" marL="4572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850"/>
              <a:buFont typeface="Lato"/>
              <a:buChar char="●"/>
            </a:pPr>
            <a:r>
              <a:rPr lang="en-US" sz="18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Users focused on weight loss and fitness goals</a:t>
            </a:r>
            <a:endParaRPr sz="185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6075" lvl="0" marL="4572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850"/>
              <a:buFont typeface="Lato"/>
              <a:buChar char="●"/>
            </a:pPr>
            <a:r>
              <a:rPr lang="en-US" sz="18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Require structured diet and exercise plans</a:t>
            </a:r>
            <a:endParaRPr sz="185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6075" lvl="0" marL="4572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850"/>
              <a:buFont typeface="Lato"/>
              <a:buChar char="●"/>
            </a:pPr>
            <a:r>
              <a:rPr lang="en-US" sz="18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Need goal-based recommendations</a:t>
            </a:r>
            <a:endParaRPr sz="185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5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107" name="Google Shape;1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515" y="4310371"/>
            <a:ext cx="680442" cy="68044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/>
          <p:nvPr/>
        </p:nvSpPr>
        <p:spPr>
          <a:xfrm>
            <a:off x="1583452" y="4310377"/>
            <a:ext cx="39198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200"/>
              <a:buFont typeface="Lato"/>
              <a:buNone/>
            </a:pPr>
            <a:r>
              <a:rPr b="1" lang="en-US" sz="22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Students &amp; Developers</a:t>
            </a:r>
            <a:endParaRPr b="0" i="0" sz="2200" u="none" cap="none" strike="noStrike"/>
          </a:p>
        </p:txBody>
      </p:sp>
      <p:sp>
        <p:nvSpPr>
          <p:cNvPr id="109" name="Google Shape;109;p16"/>
          <p:cNvSpPr/>
          <p:nvPr/>
        </p:nvSpPr>
        <p:spPr>
          <a:xfrm>
            <a:off x="1583445" y="4800790"/>
            <a:ext cx="54156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6075" lvl="0" marL="4572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850"/>
              <a:buFont typeface="Lato"/>
              <a:buChar char="●"/>
            </a:pPr>
            <a:r>
              <a:rPr lang="en-US" sz="18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Learners exploring web development projects</a:t>
            </a:r>
            <a:endParaRPr sz="185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6075" lvl="0" marL="4572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850"/>
              <a:buFont typeface="Lato"/>
              <a:buChar char="●"/>
            </a:pPr>
            <a:r>
              <a:rPr lang="en-US" sz="18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Interested in AI-assisted coding techniques</a:t>
            </a:r>
            <a:endParaRPr sz="185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6075" lvl="0" marL="4572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850"/>
              <a:buFont typeface="Lato"/>
              <a:buChar char="●"/>
            </a:pPr>
            <a:r>
              <a:rPr lang="en-US" sz="18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Gain practical project experience</a:t>
            </a:r>
            <a:endParaRPr sz="185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5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110" name="Google Shape;1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2434" y="4310383"/>
            <a:ext cx="680442" cy="68044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/>
          <p:nvPr/>
        </p:nvSpPr>
        <p:spPr>
          <a:xfrm>
            <a:off x="8556364" y="4310383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200"/>
              <a:buFont typeface="Lato"/>
              <a:buNone/>
            </a:pPr>
            <a:r>
              <a:rPr b="1" lang="en-US" sz="22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Academic Evaluators</a:t>
            </a:r>
            <a:endParaRPr b="0" i="0" sz="2200" u="none" cap="none" strike="noStrike"/>
          </a:p>
        </p:txBody>
      </p:sp>
      <p:sp>
        <p:nvSpPr>
          <p:cNvPr id="112" name="Google Shape;112;p16"/>
          <p:cNvSpPr/>
          <p:nvPr/>
        </p:nvSpPr>
        <p:spPr>
          <a:xfrm>
            <a:off x="8556364" y="4800802"/>
            <a:ext cx="54159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6075" lvl="0" marL="4572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850"/>
              <a:buFont typeface="Lato"/>
              <a:buChar char="●"/>
            </a:pPr>
            <a:r>
              <a:rPr lang="en-US" sz="18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Faculty assessing project design and implementation</a:t>
            </a:r>
            <a:endParaRPr sz="185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6075" lvl="0" marL="4572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850"/>
              <a:buFont typeface="Lato"/>
              <a:buChar char="●"/>
            </a:pPr>
            <a:r>
              <a:rPr lang="en-US" sz="18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Evaluate innovation and practical application</a:t>
            </a:r>
            <a:endParaRPr sz="185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6075" lvl="0" marL="4572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850"/>
              <a:buFont typeface="Lato"/>
              <a:buChar char="●"/>
            </a:pPr>
            <a:r>
              <a:rPr lang="en-US" sz="18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Focus on clarity, structure, and usability</a:t>
            </a:r>
            <a:endParaRPr sz="185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/>
          <p:nvPr/>
        </p:nvSpPr>
        <p:spPr>
          <a:xfrm>
            <a:off x="678635" y="315410"/>
            <a:ext cx="97773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3450"/>
              <a:buFont typeface="Lato"/>
              <a:buNone/>
            </a:pPr>
            <a:r>
              <a:rPr b="1" i="0" lang="en-US" sz="345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Tech Stack: Foundation for Intelligence and Speed</a:t>
            </a:r>
            <a:endParaRPr b="0" i="0" sz="3450" u="none" cap="none" strike="noStrike"/>
          </a:p>
        </p:txBody>
      </p:sp>
      <p:sp>
        <p:nvSpPr>
          <p:cNvPr id="119" name="Google Shape;119;p17"/>
          <p:cNvSpPr/>
          <p:nvPr/>
        </p:nvSpPr>
        <p:spPr>
          <a:xfrm>
            <a:off x="794799" y="1064701"/>
            <a:ext cx="13038600" cy="1348800"/>
          </a:xfrm>
          <a:prstGeom prst="roundRect">
            <a:avLst>
              <a:gd fmla="val 2102" name="adj"/>
            </a:avLst>
          </a:prstGeom>
          <a:solidFill>
            <a:srgbClr val="EFECE6"/>
          </a:solidFill>
          <a:ln cap="flat" cmpd="sng" w="24375">
            <a:solidFill>
              <a:srgbClr val="CBC5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500" lIns="97500" spcFirstLastPara="1" rIns="97500" wrap="square" tIns="9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819176" y="1089077"/>
            <a:ext cx="756000" cy="1299900"/>
          </a:xfrm>
          <a:prstGeom prst="rect">
            <a:avLst/>
          </a:prstGeom>
          <a:solidFill>
            <a:srgbClr val="E5DFD2"/>
          </a:solidFill>
          <a:ln>
            <a:noFill/>
          </a:ln>
        </p:spPr>
        <p:txBody>
          <a:bodyPr anchorCtr="0" anchor="ctr" bIns="97500" lIns="97500" spcFirstLastPara="1" rIns="97500" wrap="square" tIns="9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1055324" y="1561881"/>
            <a:ext cx="283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186"/>
              <a:buFont typeface="Lato"/>
              <a:buNone/>
            </a:pPr>
            <a:r>
              <a:rPr b="1" i="0" lang="en-US" sz="2186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b="0" i="0" sz="2186" u="none" cap="none" strike="noStrike"/>
          </a:p>
        </p:txBody>
      </p:sp>
      <p:sp>
        <p:nvSpPr>
          <p:cNvPr id="122" name="Google Shape;122;p17"/>
          <p:cNvSpPr/>
          <p:nvPr/>
        </p:nvSpPr>
        <p:spPr>
          <a:xfrm>
            <a:off x="1722496" y="1219201"/>
            <a:ext cx="3741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813"/>
              <a:buFont typeface="Lato"/>
              <a:buNone/>
            </a:pPr>
            <a:r>
              <a:rPr b="1" i="0" lang="en-US" sz="2013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Frontend Architecture</a:t>
            </a:r>
            <a:endParaRPr b="0" i="0" sz="2013" u="none" cap="none" strike="noStrike"/>
          </a:p>
        </p:txBody>
      </p:sp>
      <p:sp>
        <p:nvSpPr>
          <p:cNvPr id="123" name="Google Shape;123;p17"/>
          <p:cNvSpPr/>
          <p:nvPr/>
        </p:nvSpPr>
        <p:spPr>
          <a:xfrm>
            <a:off x="1722500" y="1676213"/>
            <a:ext cx="115650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440"/>
              <a:buFont typeface="Lato"/>
              <a:buNone/>
            </a:pPr>
            <a:r>
              <a:rPr lang="en-US" sz="17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HTML for structure, CSS for styling and responsive design, JavaScript for interactivity and dynamic content generation.</a:t>
            </a:r>
            <a:endParaRPr b="0" i="0" sz="1750" u="none" cap="none" strike="noStrike"/>
          </a:p>
        </p:txBody>
      </p:sp>
      <p:sp>
        <p:nvSpPr>
          <p:cNvPr id="124" name="Google Shape;124;p17"/>
          <p:cNvSpPr/>
          <p:nvPr/>
        </p:nvSpPr>
        <p:spPr>
          <a:xfrm>
            <a:off x="794800" y="2560825"/>
            <a:ext cx="13038600" cy="1133700"/>
          </a:xfrm>
          <a:prstGeom prst="roundRect">
            <a:avLst>
              <a:gd fmla="val 2500" name="adj"/>
            </a:avLst>
          </a:prstGeom>
          <a:solidFill>
            <a:srgbClr val="EFECE6"/>
          </a:solidFill>
          <a:ln cap="flat" cmpd="sng" w="24375">
            <a:solidFill>
              <a:srgbClr val="CBC5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500" lIns="97500" spcFirstLastPara="1" rIns="97500" wrap="square" tIns="9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819176" y="2585190"/>
            <a:ext cx="756000" cy="1085100"/>
          </a:xfrm>
          <a:prstGeom prst="rect">
            <a:avLst/>
          </a:prstGeom>
          <a:solidFill>
            <a:srgbClr val="E5DFD2"/>
          </a:solidFill>
          <a:ln>
            <a:noFill/>
          </a:ln>
        </p:spPr>
        <p:txBody>
          <a:bodyPr anchorCtr="0" anchor="ctr" bIns="97500" lIns="97500" spcFirstLastPara="1" rIns="97500" wrap="square" tIns="9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1055324" y="2950585"/>
            <a:ext cx="283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186"/>
              <a:buFont typeface="Lato"/>
              <a:buNone/>
            </a:pPr>
            <a:r>
              <a:rPr b="1" i="0" lang="en-US" sz="2186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="0" i="0" sz="2186" u="none" cap="none" strike="noStrike"/>
          </a:p>
        </p:txBody>
      </p:sp>
      <p:sp>
        <p:nvSpPr>
          <p:cNvPr id="127" name="Google Shape;127;p17"/>
          <p:cNvSpPr/>
          <p:nvPr/>
        </p:nvSpPr>
        <p:spPr>
          <a:xfrm>
            <a:off x="1722497" y="2650612"/>
            <a:ext cx="3374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813"/>
              <a:buFont typeface="Lato"/>
              <a:buNone/>
            </a:pPr>
            <a:r>
              <a:rPr b="1" lang="en-US" sz="2013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Data Handling</a:t>
            </a:r>
            <a:endParaRPr b="0" i="0" sz="2013" u="none" cap="none" strike="noStrike"/>
          </a:p>
        </p:txBody>
      </p:sp>
      <p:sp>
        <p:nvSpPr>
          <p:cNvPr id="128" name="Google Shape;128;p17"/>
          <p:cNvSpPr/>
          <p:nvPr/>
        </p:nvSpPr>
        <p:spPr>
          <a:xfrm>
            <a:off x="1722500" y="3037050"/>
            <a:ext cx="118974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440"/>
              <a:buFont typeface="Lato"/>
              <a:buNone/>
            </a:pPr>
            <a:r>
              <a:rPr lang="en-US" sz="17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localStorage used for storing user inputs and maintaining data persistence within the browser without external databases.</a:t>
            </a:r>
            <a:endParaRPr b="0" i="0" sz="1750" u="none" cap="none" strike="noStrike"/>
          </a:p>
        </p:txBody>
      </p:sp>
      <p:sp>
        <p:nvSpPr>
          <p:cNvPr id="129" name="Google Shape;129;p17"/>
          <p:cNvSpPr/>
          <p:nvPr/>
        </p:nvSpPr>
        <p:spPr>
          <a:xfrm>
            <a:off x="794799" y="3842108"/>
            <a:ext cx="13038600" cy="1348800"/>
          </a:xfrm>
          <a:prstGeom prst="roundRect">
            <a:avLst>
              <a:gd fmla="val 2102" name="adj"/>
            </a:avLst>
          </a:prstGeom>
          <a:solidFill>
            <a:srgbClr val="EFECE6"/>
          </a:solidFill>
          <a:ln cap="flat" cmpd="sng" w="24375">
            <a:solidFill>
              <a:srgbClr val="CBC5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500" lIns="97500" spcFirstLastPara="1" rIns="97500" wrap="square" tIns="9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819176" y="3866485"/>
            <a:ext cx="756000" cy="1299900"/>
          </a:xfrm>
          <a:prstGeom prst="rect">
            <a:avLst/>
          </a:prstGeom>
          <a:solidFill>
            <a:srgbClr val="E5DFD2"/>
          </a:solidFill>
          <a:ln>
            <a:noFill/>
          </a:ln>
        </p:spPr>
        <p:txBody>
          <a:bodyPr anchorCtr="0" anchor="ctr" bIns="97500" lIns="97500" spcFirstLastPara="1" rIns="97500" wrap="square" tIns="9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1055324" y="4339289"/>
            <a:ext cx="283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186"/>
              <a:buFont typeface="Lato"/>
              <a:buNone/>
            </a:pPr>
            <a:r>
              <a:rPr b="1" i="0" lang="en-US" sz="2186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 b="0" i="0" sz="2186" u="none" cap="none" strike="noStrike"/>
          </a:p>
        </p:txBody>
      </p:sp>
      <p:sp>
        <p:nvSpPr>
          <p:cNvPr id="132" name="Google Shape;132;p17"/>
          <p:cNvSpPr/>
          <p:nvPr/>
        </p:nvSpPr>
        <p:spPr>
          <a:xfrm>
            <a:off x="1722508" y="3994403"/>
            <a:ext cx="23619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813"/>
              <a:buFont typeface="Lato"/>
              <a:buNone/>
            </a:pPr>
            <a:r>
              <a:rPr b="1" lang="en-US" sz="2013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AI Integration</a:t>
            </a:r>
            <a:endParaRPr b="0" i="0" sz="2013" u="none" cap="none" strike="noStrike"/>
          </a:p>
        </p:txBody>
      </p:sp>
      <p:sp>
        <p:nvSpPr>
          <p:cNvPr id="133" name="Google Shape;133;p17"/>
          <p:cNvSpPr/>
          <p:nvPr/>
        </p:nvSpPr>
        <p:spPr>
          <a:xfrm>
            <a:off x="1722508" y="4439081"/>
            <a:ext cx="118974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440"/>
              <a:buFont typeface="Lato"/>
              <a:buNone/>
            </a:pPr>
            <a:r>
              <a:rPr lang="en-US" sz="17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ChatGPT and Claude used for code generation, debugging, and improving UI/UX, enabling faster development.</a:t>
            </a:r>
            <a:endParaRPr b="0" i="0" sz="1750" u="none" cap="none" strike="noStrike"/>
          </a:p>
        </p:txBody>
      </p:sp>
      <p:sp>
        <p:nvSpPr>
          <p:cNvPr id="134" name="Google Shape;134;p17"/>
          <p:cNvSpPr/>
          <p:nvPr/>
        </p:nvSpPr>
        <p:spPr>
          <a:xfrm>
            <a:off x="794799" y="5338221"/>
            <a:ext cx="13038600" cy="1133700"/>
          </a:xfrm>
          <a:prstGeom prst="roundRect">
            <a:avLst>
              <a:gd fmla="val 2500" name="adj"/>
            </a:avLst>
          </a:prstGeom>
          <a:solidFill>
            <a:srgbClr val="EFECE6"/>
          </a:solidFill>
          <a:ln cap="flat" cmpd="sng" w="24375">
            <a:solidFill>
              <a:srgbClr val="CBC5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500" lIns="97500" spcFirstLastPara="1" rIns="97500" wrap="square" tIns="9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819176" y="5362597"/>
            <a:ext cx="756000" cy="1085100"/>
          </a:xfrm>
          <a:prstGeom prst="rect">
            <a:avLst/>
          </a:prstGeom>
          <a:solidFill>
            <a:srgbClr val="E5DFD2"/>
          </a:solidFill>
          <a:ln>
            <a:noFill/>
          </a:ln>
        </p:spPr>
        <p:txBody>
          <a:bodyPr anchorCtr="0" anchor="ctr" bIns="97500" lIns="97500" spcFirstLastPara="1" rIns="97500" wrap="square" tIns="9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1055324" y="5727992"/>
            <a:ext cx="283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186"/>
              <a:buFont typeface="Lato"/>
              <a:buNone/>
            </a:pPr>
            <a:r>
              <a:rPr b="1" i="0" lang="en-US" sz="2186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 b="0" i="0" sz="2186" u="none" cap="none" strike="noStrike"/>
          </a:p>
        </p:txBody>
      </p:sp>
      <p:sp>
        <p:nvSpPr>
          <p:cNvPr id="137" name="Google Shape;137;p17"/>
          <p:cNvSpPr/>
          <p:nvPr/>
        </p:nvSpPr>
        <p:spPr>
          <a:xfrm>
            <a:off x="1722508" y="5551516"/>
            <a:ext cx="23619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813"/>
              <a:buFont typeface="Lato"/>
              <a:buNone/>
            </a:pPr>
            <a:r>
              <a:rPr b="1" lang="en-US" sz="2013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Development Tools</a:t>
            </a:r>
            <a:endParaRPr b="0" i="0" sz="2013" u="none" cap="none" strike="noStrike"/>
          </a:p>
        </p:txBody>
      </p:sp>
      <p:sp>
        <p:nvSpPr>
          <p:cNvPr id="138" name="Google Shape;138;p17"/>
          <p:cNvSpPr/>
          <p:nvPr/>
        </p:nvSpPr>
        <p:spPr>
          <a:xfrm>
            <a:off x="1722508" y="5935193"/>
            <a:ext cx="118974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440"/>
              <a:buFont typeface="Lato"/>
              <a:buNone/>
            </a:pPr>
            <a:r>
              <a:rPr lang="en-US" sz="17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GitHub for version control, VS Code as development environment, and browser DevTools for testing and debugging.</a:t>
            </a:r>
            <a:endParaRPr b="0" i="0" sz="1750" u="none" cap="none" strike="noStrike"/>
          </a:p>
        </p:txBody>
      </p:sp>
      <p:sp>
        <p:nvSpPr>
          <p:cNvPr id="139" name="Google Shape;139;p17"/>
          <p:cNvSpPr/>
          <p:nvPr/>
        </p:nvSpPr>
        <p:spPr>
          <a:xfrm>
            <a:off x="794799" y="6619515"/>
            <a:ext cx="13038600" cy="1133700"/>
          </a:xfrm>
          <a:prstGeom prst="roundRect">
            <a:avLst>
              <a:gd fmla="val 2500" name="adj"/>
            </a:avLst>
          </a:prstGeom>
          <a:solidFill>
            <a:srgbClr val="EFECE6"/>
          </a:solidFill>
          <a:ln cap="flat" cmpd="sng" w="24375">
            <a:solidFill>
              <a:srgbClr val="CBC5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500" lIns="97500" spcFirstLastPara="1" rIns="97500" wrap="square" tIns="9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819176" y="6643892"/>
            <a:ext cx="756000" cy="1085100"/>
          </a:xfrm>
          <a:prstGeom prst="rect">
            <a:avLst/>
          </a:prstGeom>
          <a:solidFill>
            <a:srgbClr val="E5DFD2"/>
          </a:solidFill>
          <a:ln>
            <a:noFill/>
          </a:ln>
        </p:spPr>
        <p:txBody>
          <a:bodyPr anchorCtr="0" anchor="ctr" bIns="97500" lIns="97500" spcFirstLastPara="1" rIns="97500" wrap="square" tIns="9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1055324" y="7009287"/>
            <a:ext cx="283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186"/>
              <a:buFont typeface="Lato"/>
              <a:buNone/>
            </a:pPr>
            <a:r>
              <a:rPr b="1" i="0" lang="en-US" sz="2186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 b="0" i="0" sz="2186" u="none" cap="none" strike="noStrike"/>
          </a:p>
        </p:txBody>
      </p:sp>
      <p:sp>
        <p:nvSpPr>
          <p:cNvPr id="142" name="Google Shape;142;p17"/>
          <p:cNvSpPr/>
          <p:nvPr/>
        </p:nvSpPr>
        <p:spPr>
          <a:xfrm>
            <a:off x="1722497" y="6832800"/>
            <a:ext cx="3374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813"/>
              <a:buFont typeface="Lato"/>
              <a:buNone/>
            </a:pPr>
            <a:r>
              <a:rPr b="1" lang="en-US" sz="2013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Application Design</a:t>
            </a:r>
            <a:endParaRPr b="0" i="0" sz="2013" u="none" cap="none" strike="noStrike"/>
          </a:p>
        </p:txBody>
      </p:sp>
      <p:sp>
        <p:nvSpPr>
          <p:cNvPr id="143" name="Google Shape;143;p17"/>
          <p:cNvSpPr/>
          <p:nvPr/>
        </p:nvSpPr>
        <p:spPr>
          <a:xfrm>
            <a:off x="1722508" y="7216488"/>
            <a:ext cx="118974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440"/>
              <a:buFont typeface="Lato"/>
              <a:buNone/>
            </a:pPr>
            <a:r>
              <a:rPr lang="en-US" sz="17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Clean card-based UI with responsive layout, green-themed design, and user-friendly interface for better experience.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/>
          <p:nvPr/>
        </p:nvSpPr>
        <p:spPr>
          <a:xfrm>
            <a:off x="793790" y="789384"/>
            <a:ext cx="958762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4450"/>
              <a:buFont typeface="Lato"/>
              <a:buNone/>
            </a:pPr>
            <a:r>
              <a:rPr b="1" i="0" lang="en-US" sz="445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AI Prompts &amp; Code Generation: Part 1</a:t>
            </a:r>
            <a:endParaRPr b="0" i="0" sz="4450" u="none" cap="none" strike="noStrike"/>
          </a:p>
        </p:txBody>
      </p:sp>
      <p:sp>
        <p:nvSpPr>
          <p:cNvPr id="150" name="Google Shape;150;p18"/>
          <p:cNvSpPr/>
          <p:nvPr/>
        </p:nvSpPr>
        <p:spPr>
          <a:xfrm>
            <a:off x="793803" y="1671117"/>
            <a:ext cx="57939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2650"/>
              <a:buFont typeface="Lato"/>
              <a:buNone/>
            </a:pPr>
            <a:r>
              <a:rPr b="1" lang="en-US" sz="2650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Application Development Using AI</a:t>
            </a:r>
            <a:endParaRPr b="0" i="0" sz="2650" u="none" cap="none" strike="noStrike"/>
          </a:p>
        </p:txBody>
      </p:sp>
      <p:sp>
        <p:nvSpPr>
          <p:cNvPr id="151" name="Google Shape;151;p18"/>
          <p:cNvSpPr/>
          <p:nvPr/>
        </p:nvSpPr>
        <p:spPr>
          <a:xfrm>
            <a:off x="793790" y="2354342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750"/>
              <a:buFont typeface="Lato"/>
              <a:buNone/>
            </a:pPr>
            <a:r>
              <a:rPr lang="en-US" sz="19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NutriAI uses structured AI prompts to generate core functionalities including form design, calculations, and diet planning features.</a:t>
            </a:r>
            <a:endParaRPr b="0" i="0" sz="1950" u="none" cap="none" strike="noStrike"/>
          </a:p>
        </p:txBody>
      </p:sp>
      <p:sp>
        <p:nvSpPr>
          <p:cNvPr id="152" name="Google Shape;152;p18"/>
          <p:cNvSpPr/>
          <p:nvPr/>
        </p:nvSpPr>
        <p:spPr>
          <a:xfrm>
            <a:off x="793790" y="333529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1559250" y="3314700"/>
            <a:ext cx="56424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200"/>
              <a:buFont typeface="Lato"/>
              <a:buNone/>
            </a:pPr>
            <a:r>
              <a:rPr b="1" lang="en-US" sz="22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Build a complete AI Diet Planner web application with user input, BMI, diet plan, and clean UI.</a:t>
            </a:r>
            <a:endParaRPr b="0" i="0" sz="2200" u="none" cap="none" strike="noStrike"/>
          </a:p>
        </p:txBody>
      </p:sp>
      <p:sp>
        <p:nvSpPr>
          <p:cNvPr id="154" name="Google Shape;154;p18"/>
          <p:cNvSpPr/>
          <p:nvPr/>
        </p:nvSpPr>
        <p:spPr>
          <a:xfrm>
            <a:off x="1530956" y="4583563"/>
            <a:ext cx="56424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750"/>
              <a:buFont typeface="Lato"/>
              <a:buNone/>
            </a:pPr>
            <a:r>
              <a:rPr lang="en-US" sz="18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Full application structure generation using AI-assisted coding</a:t>
            </a:r>
            <a:endParaRPr b="0" i="0" sz="1850" u="none" cap="none" strike="noStrike"/>
          </a:p>
        </p:txBody>
      </p:sp>
      <p:sp>
        <p:nvSpPr>
          <p:cNvPr id="155" name="Google Shape;155;p18"/>
          <p:cNvSpPr/>
          <p:nvPr/>
        </p:nvSpPr>
        <p:spPr>
          <a:xfrm>
            <a:off x="7456884" y="333529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8222400" y="3314703"/>
            <a:ext cx="5642700" cy="10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200"/>
              <a:buFont typeface="Lato"/>
              <a:buNone/>
            </a:pPr>
            <a:r>
              <a:rPr b="1" lang="en-US" sz="22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Create a responsive form with validation for age, weight, height, goal, and food preference.</a:t>
            </a:r>
            <a:endParaRPr b="0" i="0" sz="2200" u="none" cap="none" strike="noStrike"/>
          </a:p>
        </p:txBody>
      </p:sp>
      <p:sp>
        <p:nvSpPr>
          <p:cNvPr id="157" name="Google Shape;157;p18"/>
          <p:cNvSpPr/>
          <p:nvPr/>
        </p:nvSpPr>
        <p:spPr>
          <a:xfrm>
            <a:off x="8194000" y="4612243"/>
            <a:ext cx="564261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750"/>
              <a:buFont typeface="Lato"/>
              <a:buNone/>
            </a:pPr>
            <a:r>
              <a:rPr lang="en-US" sz="18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User input system with proper validation and alignment</a:t>
            </a:r>
            <a:endParaRPr b="0" i="0" sz="1850" u="none" cap="none" strike="noStrike"/>
          </a:p>
        </p:txBody>
      </p:sp>
      <p:sp>
        <p:nvSpPr>
          <p:cNvPr id="158" name="Google Shape;158;p18"/>
          <p:cNvSpPr/>
          <p:nvPr/>
        </p:nvSpPr>
        <p:spPr>
          <a:xfrm>
            <a:off x="793790" y="5791676"/>
            <a:ext cx="510302" cy="510302"/>
          </a:xfrm>
          <a:prstGeom prst="roundRect">
            <a:avLst>
              <a:gd fmla="val 6667" name="adj"/>
            </a:avLst>
          </a:pr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1530906" y="5869543"/>
            <a:ext cx="5642491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200"/>
              <a:buFont typeface="Lato"/>
              <a:buNone/>
            </a:pPr>
            <a:r>
              <a:rPr b="1" lang="en-US" sz="22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Generate BMI calculator using JavaScript and display result with category.</a:t>
            </a:r>
            <a:endParaRPr b="0" i="0" sz="2200" u="none" cap="none" strike="noStrike"/>
          </a:p>
        </p:txBody>
      </p:sp>
      <p:sp>
        <p:nvSpPr>
          <p:cNvPr id="160" name="Google Shape;160;p18"/>
          <p:cNvSpPr/>
          <p:nvPr/>
        </p:nvSpPr>
        <p:spPr>
          <a:xfrm>
            <a:off x="1530906" y="6714292"/>
            <a:ext cx="564249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750"/>
              <a:buFont typeface="Lato"/>
              <a:buNone/>
            </a:pPr>
            <a:r>
              <a:rPr lang="en-US" sz="18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Automatic BMI calculation with categorized output</a:t>
            </a:r>
            <a:endParaRPr b="0" i="0" sz="1850" u="none" cap="none" strike="noStrike"/>
          </a:p>
        </p:txBody>
      </p:sp>
      <p:sp>
        <p:nvSpPr>
          <p:cNvPr id="161" name="Google Shape;161;p18"/>
          <p:cNvSpPr/>
          <p:nvPr/>
        </p:nvSpPr>
        <p:spPr>
          <a:xfrm>
            <a:off x="7456884" y="5791676"/>
            <a:ext cx="510302" cy="510302"/>
          </a:xfrm>
          <a:prstGeom prst="roundRect">
            <a:avLst>
              <a:gd fmla="val 6667" name="adj"/>
            </a:avLst>
          </a:pr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8194000" y="5869543"/>
            <a:ext cx="5642610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200"/>
              <a:buFont typeface="Lato"/>
              <a:buNone/>
            </a:pPr>
            <a:r>
              <a:rPr b="1" lang="en-US" sz="22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Generate a structured 7-day diet plan with meals for each day.</a:t>
            </a:r>
            <a:endParaRPr b="0" i="0" sz="2200" u="none" cap="none" strike="noStrike"/>
          </a:p>
        </p:txBody>
      </p:sp>
      <p:sp>
        <p:nvSpPr>
          <p:cNvPr id="163" name="Google Shape;163;p18"/>
          <p:cNvSpPr/>
          <p:nvPr/>
        </p:nvSpPr>
        <p:spPr>
          <a:xfrm>
            <a:off x="8194000" y="6714292"/>
            <a:ext cx="564261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Personalized meal planning with clear daily structure</a:t>
            </a:r>
            <a:endParaRPr sz="185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1200"/>
              </a:spcBef>
              <a:spcAft>
                <a:spcPts val="0"/>
              </a:spcAft>
              <a:buClr>
                <a:srgbClr val="4A4A45"/>
              </a:buClr>
              <a:buSzPts val="1750"/>
              <a:buFont typeface="Lato"/>
              <a:buNone/>
            </a:pPr>
            <a:r>
              <a:t/>
            </a:r>
            <a:endParaRPr sz="185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/>
          <p:nvPr/>
        </p:nvSpPr>
        <p:spPr>
          <a:xfrm>
            <a:off x="1812846" y="458867"/>
            <a:ext cx="6740723" cy="498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3100"/>
              <a:buFont typeface="Lato"/>
              <a:buNone/>
            </a:pPr>
            <a:r>
              <a:rPr b="1" i="0" lang="en-US" sz="310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AI Prompts &amp; Code Generation: Part 2</a:t>
            </a:r>
            <a:endParaRPr b="0" i="0" sz="3100" u="none" cap="none" strike="noStrike"/>
          </a:p>
        </p:txBody>
      </p:sp>
      <p:sp>
        <p:nvSpPr>
          <p:cNvPr id="170" name="Google Shape;170;p19"/>
          <p:cNvSpPr/>
          <p:nvPr/>
        </p:nvSpPr>
        <p:spPr>
          <a:xfrm>
            <a:off x="1812852" y="1002024"/>
            <a:ext cx="35832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1850"/>
              <a:buFont typeface="Lato"/>
              <a:buNone/>
            </a:pPr>
            <a:r>
              <a:rPr b="1" lang="en-US" sz="1850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Complete Application Workflow</a:t>
            </a:r>
            <a:endParaRPr b="0" i="0" sz="1850" u="none" cap="none" strike="noStrike"/>
          </a:p>
        </p:txBody>
      </p:sp>
      <p:sp>
        <p:nvSpPr>
          <p:cNvPr id="171" name="Google Shape;171;p19"/>
          <p:cNvSpPr/>
          <p:nvPr/>
        </p:nvSpPr>
        <p:spPr>
          <a:xfrm>
            <a:off x="1972270" y="1708309"/>
            <a:ext cx="159425" cy="717590"/>
          </a:xfrm>
          <a:prstGeom prst="roundRect">
            <a:avLst>
              <a:gd fmla="val 15006" name="adj"/>
            </a:avLst>
          </a:pr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1812846" y="1603653"/>
            <a:ext cx="478393" cy="478393"/>
          </a:xfrm>
          <a:prstGeom prst="roundRect">
            <a:avLst>
              <a:gd fmla="val 95570" name="adj"/>
            </a:avLst>
          </a:pr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3" name="Google Shape;1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2384" y="1723311"/>
            <a:ext cx="239197" cy="239197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/>
          <p:nvPr/>
        </p:nvSpPr>
        <p:spPr>
          <a:xfrm>
            <a:off x="2403274" y="1628526"/>
            <a:ext cx="28020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50"/>
              <a:buFont typeface="Lato"/>
              <a:buNone/>
            </a:pPr>
            <a:r>
              <a:rPr b="1" lang="en-US" sz="16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User Input Processing</a:t>
            </a:r>
            <a:endParaRPr b="0" i="0" sz="1650" u="none" cap="none" strike="noStrike"/>
          </a:p>
        </p:txBody>
      </p:sp>
      <p:sp>
        <p:nvSpPr>
          <p:cNvPr id="175" name="Google Shape;175;p19"/>
          <p:cNvSpPr/>
          <p:nvPr/>
        </p:nvSpPr>
        <p:spPr>
          <a:xfrm>
            <a:off x="2403277" y="1944886"/>
            <a:ext cx="10414159" cy="217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50"/>
              <a:buFont typeface="Lato"/>
              <a:buNone/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AI helps design input forms to collect user data such as age, weight, height, goal, and food preference.</a:t>
            </a:r>
            <a:endParaRPr b="0" i="0" sz="1350" u="none" cap="none" strike="noStrike"/>
          </a:p>
        </p:txBody>
      </p:sp>
      <p:sp>
        <p:nvSpPr>
          <p:cNvPr id="176" name="Google Shape;176;p19"/>
          <p:cNvSpPr/>
          <p:nvPr/>
        </p:nvSpPr>
        <p:spPr>
          <a:xfrm>
            <a:off x="2211467" y="2777252"/>
            <a:ext cx="159425" cy="717590"/>
          </a:xfrm>
          <a:prstGeom prst="roundRect">
            <a:avLst>
              <a:gd fmla="val 15006" name="adj"/>
            </a:avLst>
          </a:pr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2052042" y="2672596"/>
            <a:ext cx="478393" cy="478393"/>
          </a:xfrm>
          <a:prstGeom prst="roundRect">
            <a:avLst>
              <a:gd fmla="val 95570" name="adj"/>
            </a:avLst>
          </a:pr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8" name="Google Shape;17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1581" y="2792254"/>
            <a:ext cx="239197" cy="23919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/>
          <p:nvPr/>
        </p:nvSpPr>
        <p:spPr>
          <a:xfrm>
            <a:off x="2642473" y="2697480"/>
            <a:ext cx="1993583" cy="249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50"/>
              <a:buFont typeface="Lato"/>
              <a:buNone/>
            </a:pPr>
            <a:r>
              <a:rPr b="1" lang="en-US" sz="16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BMI &amp; Data Analysis</a:t>
            </a:r>
            <a:endParaRPr b="0" i="0" sz="1650" u="none" cap="none" strike="noStrike"/>
          </a:p>
        </p:txBody>
      </p:sp>
      <p:sp>
        <p:nvSpPr>
          <p:cNvPr id="180" name="Google Shape;180;p19"/>
          <p:cNvSpPr/>
          <p:nvPr/>
        </p:nvSpPr>
        <p:spPr>
          <a:xfrm>
            <a:off x="2642473" y="3013829"/>
            <a:ext cx="10174962" cy="217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50"/>
              <a:buFont typeface="Lato"/>
              <a:buNone/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JavaScript logic generated using AI calculates BMI and categorizes user health status.</a:t>
            </a:r>
            <a:endParaRPr b="0" i="0" sz="1350" u="none" cap="none" strike="noStrike"/>
          </a:p>
        </p:txBody>
      </p:sp>
      <p:sp>
        <p:nvSpPr>
          <p:cNvPr id="181" name="Google Shape;181;p19"/>
          <p:cNvSpPr/>
          <p:nvPr/>
        </p:nvSpPr>
        <p:spPr>
          <a:xfrm>
            <a:off x="2450663" y="3846195"/>
            <a:ext cx="159425" cy="717590"/>
          </a:xfrm>
          <a:prstGeom prst="roundRect">
            <a:avLst>
              <a:gd fmla="val 15006" name="adj"/>
            </a:avLst>
          </a:pr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2291239" y="3741539"/>
            <a:ext cx="478393" cy="478393"/>
          </a:xfrm>
          <a:prstGeom prst="roundRect">
            <a:avLst>
              <a:gd fmla="val 95570" name="adj"/>
            </a:avLst>
          </a:pr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3" name="Google Shape;18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0778" y="3861197"/>
            <a:ext cx="239197" cy="239197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/>
          <p:nvPr/>
        </p:nvSpPr>
        <p:spPr>
          <a:xfrm>
            <a:off x="2881677" y="3766425"/>
            <a:ext cx="29310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50"/>
              <a:buFont typeface="Lato"/>
              <a:buNone/>
            </a:pPr>
            <a:r>
              <a:rPr b="1" i="0" lang="en-US" sz="16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Personalized Planning</a:t>
            </a:r>
            <a:endParaRPr b="0" i="0" sz="1650" u="none" cap="none" strike="noStrike"/>
          </a:p>
        </p:txBody>
      </p:sp>
      <p:sp>
        <p:nvSpPr>
          <p:cNvPr id="185" name="Google Shape;185;p19"/>
          <p:cNvSpPr/>
          <p:nvPr/>
        </p:nvSpPr>
        <p:spPr>
          <a:xfrm>
            <a:off x="2881670" y="4096347"/>
            <a:ext cx="99357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50"/>
              <a:buFont typeface="Lato"/>
              <a:buNone/>
            </a:pPr>
            <a:r>
              <a:rPr lang="en-US" sz="12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AI-generated code creates customized 7-day diet plans based on user goals and preferences.</a:t>
            </a:r>
            <a:endParaRPr b="0" i="0" sz="1250" u="none" cap="none" strike="noStrike"/>
          </a:p>
        </p:txBody>
      </p:sp>
      <p:sp>
        <p:nvSpPr>
          <p:cNvPr id="186" name="Google Shape;186;p19"/>
          <p:cNvSpPr/>
          <p:nvPr/>
        </p:nvSpPr>
        <p:spPr>
          <a:xfrm>
            <a:off x="2689860" y="4915138"/>
            <a:ext cx="159425" cy="717590"/>
          </a:xfrm>
          <a:prstGeom prst="roundRect">
            <a:avLst>
              <a:gd fmla="val 15006" name="adj"/>
            </a:avLst>
          </a:pr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2530435" y="4810482"/>
            <a:ext cx="478393" cy="478393"/>
          </a:xfrm>
          <a:prstGeom prst="roundRect">
            <a:avLst>
              <a:gd fmla="val 95570" name="adj"/>
            </a:avLst>
          </a:pr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9974" y="4930140"/>
            <a:ext cx="239197" cy="239197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/>
          <p:nvPr/>
        </p:nvSpPr>
        <p:spPr>
          <a:xfrm>
            <a:off x="3120878" y="4835376"/>
            <a:ext cx="26919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50"/>
              <a:buFont typeface="Lato"/>
              <a:buNone/>
            </a:pPr>
            <a:r>
              <a:rPr b="1" lang="en-US" sz="16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Exercise Recommendation</a:t>
            </a:r>
            <a:endParaRPr b="0" i="0" sz="1650" u="none" cap="none" strike="noStrike"/>
          </a:p>
        </p:txBody>
      </p:sp>
      <p:sp>
        <p:nvSpPr>
          <p:cNvPr id="190" name="Google Shape;190;p19"/>
          <p:cNvSpPr/>
          <p:nvPr/>
        </p:nvSpPr>
        <p:spPr>
          <a:xfrm>
            <a:off x="3120866" y="5151715"/>
            <a:ext cx="9696569" cy="217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AI assists in suggesting exercises with type and duration based on fitness goals.</a:t>
            </a:r>
            <a:endParaRPr sz="135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36000"/>
              </a:lnSpc>
              <a:spcBef>
                <a:spcPts val="1200"/>
              </a:spcBef>
              <a:spcAft>
                <a:spcPts val="0"/>
              </a:spcAft>
              <a:buClr>
                <a:srgbClr val="4A4A45"/>
              </a:buClr>
              <a:buSzPts val="1250"/>
              <a:buFont typeface="Lato"/>
              <a:buNone/>
            </a:pPr>
            <a:r>
              <a:t/>
            </a:r>
            <a:endParaRPr sz="135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2450663" y="5984081"/>
            <a:ext cx="159425" cy="717590"/>
          </a:xfrm>
          <a:prstGeom prst="roundRect">
            <a:avLst>
              <a:gd fmla="val 15006" name="adj"/>
            </a:avLst>
          </a:pr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2291239" y="5879425"/>
            <a:ext cx="478393" cy="478393"/>
          </a:xfrm>
          <a:prstGeom prst="roundRect">
            <a:avLst>
              <a:gd fmla="val 95570" name="adj"/>
            </a:avLst>
          </a:pr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3" name="Google Shape;19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0778" y="5999083"/>
            <a:ext cx="239197" cy="239197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/>
          <p:nvPr/>
        </p:nvSpPr>
        <p:spPr>
          <a:xfrm>
            <a:off x="2881678" y="5904298"/>
            <a:ext cx="30024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50"/>
              <a:buFont typeface="Lato"/>
              <a:buNone/>
            </a:pPr>
            <a:r>
              <a:rPr b="1" lang="en-US" sz="16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Food Restrictions &amp; Tips</a:t>
            </a:r>
            <a:endParaRPr b="0" i="0" sz="1650" u="none" cap="none" strike="noStrike"/>
          </a:p>
        </p:txBody>
      </p:sp>
      <p:sp>
        <p:nvSpPr>
          <p:cNvPr id="195" name="Google Shape;195;p19"/>
          <p:cNvSpPr/>
          <p:nvPr/>
        </p:nvSpPr>
        <p:spPr>
          <a:xfrm>
            <a:off x="2881670" y="6220658"/>
            <a:ext cx="9935766" cy="217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50"/>
              <a:buFont typeface="Lato"/>
              <a:buNone/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Generates foods to avoid and health tips for better lifestyle management.</a:t>
            </a:r>
            <a:endParaRPr b="0" i="0" sz="1350" u="none" cap="none" strike="noStrike"/>
          </a:p>
        </p:txBody>
      </p:sp>
      <p:sp>
        <p:nvSpPr>
          <p:cNvPr id="196" name="Google Shape;196;p19"/>
          <p:cNvSpPr/>
          <p:nvPr/>
        </p:nvSpPr>
        <p:spPr>
          <a:xfrm>
            <a:off x="2211467" y="7053024"/>
            <a:ext cx="159425" cy="717590"/>
          </a:xfrm>
          <a:prstGeom prst="roundRect">
            <a:avLst>
              <a:gd fmla="val 15006" name="adj"/>
            </a:avLst>
          </a:pr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2052042" y="6948368"/>
            <a:ext cx="478393" cy="478393"/>
          </a:xfrm>
          <a:prstGeom prst="roundRect">
            <a:avLst>
              <a:gd fmla="val 95570" name="adj"/>
            </a:avLst>
          </a:pr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8" name="Google Shape;19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1581" y="7068026"/>
            <a:ext cx="239197" cy="23919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/>
          <p:nvPr/>
        </p:nvSpPr>
        <p:spPr>
          <a:xfrm>
            <a:off x="2642476" y="6973250"/>
            <a:ext cx="27537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50"/>
              <a:buFont typeface="Lato"/>
              <a:buNone/>
            </a:pPr>
            <a:r>
              <a:rPr b="1" lang="en-US" sz="15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Output &amp; Download Feature</a:t>
            </a:r>
            <a:endParaRPr b="0" i="0" sz="1550" u="none" cap="none" strike="noStrike"/>
          </a:p>
        </p:txBody>
      </p:sp>
      <p:sp>
        <p:nvSpPr>
          <p:cNvPr id="200" name="Google Shape;200;p19"/>
          <p:cNvSpPr/>
          <p:nvPr/>
        </p:nvSpPr>
        <p:spPr>
          <a:xfrm>
            <a:off x="2642473" y="7289602"/>
            <a:ext cx="10174962" cy="217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50"/>
              <a:buFont typeface="Lato"/>
              <a:buNone/>
            </a:pPr>
            <a:r>
              <a:rPr lang="en-US" sz="12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AI helps implement structured output display and download option for the diet plan.</a:t>
            </a:r>
            <a:endParaRPr b="0" i="0" sz="12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/>
          <p:nvPr/>
        </p:nvSpPr>
        <p:spPr>
          <a:xfrm>
            <a:off x="682228" y="575072"/>
            <a:ext cx="85449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3800"/>
              <a:buFont typeface="Lato"/>
              <a:buNone/>
            </a:pPr>
            <a:r>
              <a:rPr b="1" lang="en-US" sz="3800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Frontend View</a:t>
            </a:r>
            <a:r>
              <a:rPr b="1" i="0" lang="en-US" sz="380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b="1" lang="en-US" sz="3800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Application Interface</a:t>
            </a:r>
            <a:endParaRPr b="0" i="0" sz="3800" u="none" cap="none" strike="noStrike"/>
          </a:p>
        </p:txBody>
      </p:sp>
      <p:sp>
        <p:nvSpPr>
          <p:cNvPr id="207" name="Google Shape;207;p20"/>
          <p:cNvSpPr/>
          <p:nvPr/>
        </p:nvSpPr>
        <p:spPr>
          <a:xfrm>
            <a:off x="682228" y="1519118"/>
            <a:ext cx="6549271" cy="1836896"/>
          </a:xfrm>
          <a:prstGeom prst="roundRect">
            <a:avLst>
              <a:gd fmla="val 1592" name="adj"/>
            </a:avLst>
          </a:pr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877133" y="1714024"/>
            <a:ext cx="584716" cy="584716"/>
          </a:xfrm>
          <a:prstGeom prst="roundRect">
            <a:avLst>
              <a:gd fmla="val 15636797" name="adj"/>
            </a:avLst>
          </a:prstGeom>
          <a:solidFill>
            <a:srgbClr val="2828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68" y="1874758"/>
            <a:ext cx="263128" cy="263128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/>
          <p:nvPr/>
        </p:nvSpPr>
        <p:spPr>
          <a:xfrm>
            <a:off x="812708" y="2376542"/>
            <a:ext cx="24366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900"/>
              <a:buFont typeface="Lato"/>
              <a:buNone/>
            </a:pPr>
            <a:r>
              <a:rPr b="1" lang="en-US" sz="19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User Input Section</a:t>
            </a:r>
            <a:endParaRPr b="0" i="0" sz="1900" u="none" cap="none" strike="noStrike"/>
          </a:p>
        </p:txBody>
      </p:sp>
      <p:sp>
        <p:nvSpPr>
          <p:cNvPr id="211" name="Google Shape;211;p20"/>
          <p:cNvSpPr/>
          <p:nvPr/>
        </p:nvSpPr>
        <p:spPr>
          <a:xfrm>
            <a:off x="812712" y="2758826"/>
            <a:ext cx="61596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00"/>
              <a:buFont typeface="Lato"/>
              <a:buNone/>
            </a:pPr>
            <a:r>
              <a:rPr lang="en-US" sz="16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Clean form with fields for age, weight, height, goal, and food preference</a:t>
            </a:r>
            <a:endParaRPr b="0" i="0" sz="1600" u="none" cap="none" strike="noStrike"/>
          </a:p>
        </p:txBody>
      </p:sp>
      <p:sp>
        <p:nvSpPr>
          <p:cNvPr id="212" name="Google Shape;212;p20"/>
          <p:cNvSpPr/>
          <p:nvPr/>
        </p:nvSpPr>
        <p:spPr>
          <a:xfrm>
            <a:off x="7398901" y="1519118"/>
            <a:ext cx="6549271" cy="1836896"/>
          </a:xfrm>
          <a:prstGeom prst="roundRect">
            <a:avLst>
              <a:gd fmla="val 1592" name="adj"/>
            </a:avLst>
          </a:pr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7593806" y="1714024"/>
            <a:ext cx="584716" cy="584716"/>
          </a:xfrm>
          <a:prstGeom prst="roundRect">
            <a:avLst>
              <a:gd fmla="val 15636797" name="adj"/>
            </a:avLst>
          </a:prstGeom>
          <a:solidFill>
            <a:srgbClr val="2828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4" name="Google Shape;21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54541" y="1874758"/>
            <a:ext cx="263128" cy="263128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/>
          <p:nvPr/>
        </p:nvSpPr>
        <p:spPr>
          <a:xfrm>
            <a:off x="7503706" y="2380155"/>
            <a:ext cx="24366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900"/>
              <a:buFont typeface="Lato"/>
              <a:buNone/>
            </a:pPr>
            <a:r>
              <a:rPr b="1" lang="en-US" sz="19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BMI Result Card</a:t>
            </a:r>
            <a:endParaRPr b="0" i="0" sz="1900" u="none" cap="none" strike="noStrike"/>
          </a:p>
        </p:txBody>
      </p:sp>
      <p:sp>
        <p:nvSpPr>
          <p:cNvPr id="216" name="Google Shape;216;p20"/>
          <p:cNvSpPr/>
          <p:nvPr/>
        </p:nvSpPr>
        <p:spPr>
          <a:xfrm>
            <a:off x="7503706" y="2766192"/>
            <a:ext cx="61596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00"/>
              <a:buFont typeface="Lato"/>
              <a:buNone/>
            </a:pPr>
            <a:r>
              <a:rPr lang="en-US" sz="16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Displays calculated BMI value along with health category</a:t>
            </a:r>
            <a:endParaRPr b="0" i="0" sz="1600" u="none" cap="none" strike="noStrike"/>
          </a:p>
        </p:txBody>
      </p:sp>
      <p:sp>
        <p:nvSpPr>
          <p:cNvPr id="217" name="Google Shape;217;p20"/>
          <p:cNvSpPr/>
          <p:nvPr/>
        </p:nvSpPr>
        <p:spPr>
          <a:xfrm>
            <a:off x="682228" y="3523417"/>
            <a:ext cx="6549271" cy="2126813"/>
          </a:xfrm>
          <a:prstGeom prst="roundRect">
            <a:avLst>
              <a:gd fmla="val 1375" name="adj"/>
            </a:avLst>
          </a:pr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877133" y="3718322"/>
            <a:ext cx="584716" cy="584716"/>
          </a:xfrm>
          <a:prstGeom prst="roundRect">
            <a:avLst>
              <a:gd fmla="val 15636797" name="adj"/>
            </a:avLst>
          </a:prstGeom>
          <a:solidFill>
            <a:srgbClr val="2828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9" name="Google Shape;2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68" y="3879056"/>
            <a:ext cx="263128" cy="26312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/>
          <p:nvPr/>
        </p:nvSpPr>
        <p:spPr>
          <a:xfrm>
            <a:off x="877133" y="4470440"/>
            <a:ext cx="2737604" cy="304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900"/>
              <a:buFont typeface="Lato"/>
              <a:buNone/>
            </a:pPr>
            <a:r>
              <a:rPr b="1" lang="en-US" sz="19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Diet Plan Section</a:t>
            </a:r>
            <a:endParaRPr b="0" i="0" sz="1900" u="none" cap="none" strike="noStrike"/>
          </a:p>
        </p:txBody>
      </p:sp>
      <p:sp>
        <p:nvSpPr>
          <p:cNvPr id="221" name="Google Shape;221;p20"/>
          <p:cNvSpPr/>
          <p:nvPr/>
        </p:nvSpPr>
        <p:spPr>
          <a:xfrm>
            <a:off x="877133" y="4875490"/>
            <a:ext cx="6159460" cy="579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00"/>
              <a:buFont typeface="Lato"/>
              <a:buNone/>
            </a:pPr>
            <a:r>
              <a:rPr lang="en-US" sz="16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Shows structured 7-day diet plan with meals for each day</a:t>
            </a:r>
            <a:endParaRPr b="0" i="0" sz="1600" u="none" cap="none" strike="noStrike"/>
          </a:p>
        </p:txBody>
      </p:sp>
      <p:sp>
        <p:nvSpPr>
          <p:cNvPr id="222" name="Google Shape;222;p20"/>
          <p:cNvSpPr/>
          <p:nvPr/>
        </p:nvSpPr>
        <p:spPr>
          <a:xfrm>
            <a:off x="7398901" y="3523417"/>
            <a:ext cx="6549271" cy="2126813"/>
          </a:xfrm>
          <a:prstGeom prst="roundRect">
            <a:avLst>
              <a:gd fmla="val 1375" name="adj"/>
            </a:avLst>
          </a:pr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7593806" y="3718322"/>
            <a:ext cx="584716" cy="584716"/>
          </a:xfrm>
          <a:prstGeom prst="roundRect">
            <a:avLst>
              <a:gd fmla="val 15636797" name="adj"/>
            </a:avLst>
          </a:prstGeom>
          <a:solidFill>
            <a:srgbClr val="2828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4" name="Google Shape;22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54541" y="3879056"/>
            <a:ext cx="263128" cy="263128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/>
          <p:nvPr/>
        </p:nvSpPr>
        <p:spPr>
          <a:xfrm>
            <a:off x="7593799" y="4470453"/>
            <a:ext cx="30408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900"/>
              <a:buFont typeface="Lato"/>
              <a:buNone/>
            </a:pPr>
            <a:r>
              <a:rPr b="1" lang="en-US" sz="19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Exercise Recommendation</a:t>
            </a:r>
            <a:endParaRPr b="0" i="0" sz="1900" u="none" cap="none" strike="noStrike"/>
          </a:p>
        </p:txBody>
      </p:sp>
      <p:sp>
        <p:nvSpPr>
          <p:cNvPr id="226" name="Google Shape;226;p20"/>
          <p:cNvSpPr/>
          <p:nvPr/>
        </p:nvSpPr>
        <p:spPr>
          <a:xfrm>
            <a:off x="7593806" y="4875490"/>
            <a:ext cx="6159460" cy="579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00"/>
              <a:buFont typeface="Lato"/>
              <a:buNone/>
            </a:pPr>
            <a:r>
              <a:rPr lang="en-US" sz="16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Provides goal-based exercises with duration and type</a:t>
            </a:r>
            <a:endParaRPr b="0" i="0" sz="1600" u="none" cap="none" strike="noStrike"/>
          </a:p>
        </p:txBody>
      </p:sp>
      <p:sp>
        <p:nvSpPr>
          <p:cNvPr id="227" name="Google Shape;227;p20"/>
          <p:cNvSpPr/>
          <p:nvPr/>
        </p:nvSpPr>
        <p:spPr>
          <a:xfrm>
            <a:off x="682228" y="5817632"/>
            <a:ext cx="6549271" cy="1836896"/>
          </a:xfrm>
          <a:prstGeom prst="roundRect">
            <a:avLst>
              <a:gd fmla="val 1592" name="adj"/>
            </a:avLst>
          </a:pr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877133" y="6012537"/>
            <a:ext cx="584716" cy="584716"/>
          </a:xfrm>
          <a:prstGeom prst="roundRect">
            <a:avLst>
              <a:gd fmla="val 15636797" name="adj"/>
            </a:avLst>
          </a:prstGeom>
          <a:solidFill>
            <a:srgbClr val="2828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9" name="Google Shape;22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68" y="6173272"/>
            <a:ext cx="263128" cy="263128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/>
          <p:nvPr/>
        </p:nvSpPr>
        <p:spPr>
          <a:xfrm>
            <a:off x="877123" y="6764649"/>
            <a:ext cx="31929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900"/>
              <a:buFont typeface="Lato"/>
              <a:buNone/>
            </a:pPr>
            <a:r>
              <a:rPr b="1" lang="en-US" sz="19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Foods to Avoid &amp; Tips</a:t>
            </a:r>
            <a:endParaRPr b="0" i="0" sz="1900" u="none" cap="none" strike="noStrike"/>
          </a:p>
        </p:txBody>
      </p:sp>
      <p:sp>
        <p:nvSpPr>
          <p:cNvPr id="231" name="Google Shape;231;p20"/>
          <p:cNvSpPr/>
          <p:nvPr/>
        </p:nvSpPr>
        <p:spPr>
          <a:xfrm>
            <a:off x="877133" y="7169706"/>
            <a:ext cx="6159460" cy="289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00"/>
              <a:buFont typeface="Lato"/>
              <a:buNone/>
            </a:pPr>
            <a:r>
              <a:rPr lang="en-US" sz="16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Displays restricted foods and simple health tips</a:t>
            </a:r>
            <a:endParaRPr b="0" i="0" sz="1600" u="none" cap="none" strike="noStrike"/>
          </a:p>
        </p:txBody>
      </p:sp>
      <p:sp>
        <p:nvSpPr>
          <p:cNvPr id="232" name="Google Shape;232;p20"/>
          <p:cNvSpPr/>
          <p:nvPr/>
        </p:nvSpPr>
        <p:spPr>
          <a:xfrm>
            <a:off x="7398901" y="5817632"/>
            <a:ext cx="6549271" cy="1836896"/>
          </a:xfrm>
          <a:prstGeom prst="roundRect">
            <a:avLst>
              <a:gd fmla="val 1592" name="adj"/>
            </a:avLst>
          </a:pr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0"/>
          <p:cNvSpPr/>
          <p:nvPr/>
        </p:nvSpPr>
        <p:spPr>
          <a:xfrm>
            <a:off x="7593806" y="6012537"/>
            <a:ext cx="584716" cy="584716"/>
          </a:xfrm>
          <a:prstGeom prst="roundRect">
            <a:avLst>
              <a:gd fmla="val 15636797" name="adj"/>
            </a:avLst>
          </a:prstGeom>
          <a:solidFill>
            <a:srgbClr val="2828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4" name="Google Shape;23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54541" y="6173272"/>
            <a:ext cx="263128" cy="26312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/>
          <p:cNvSpPr/>
          <p:nvPr/>
        </p:nvSpPr>
        <p:spPr>
          <a:xfrm>
            <a:off x="7593806" y="6764655"/>
            <a:ext cx="2436614" cy="304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900"/>
              <a:buFont typeface="Lato"/>
              <a:buNone/>
            </a:pPr>
            <a:r>
              <a:rPr b="1" lang="en-US" sz="19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Download Feature</a:t>
            </a:r>
            <a:endParaRPr b="0" i="0" sz="1900" u="none" cap="none" strike="noStrike"/>
          </a:p>
        </p:txBody>
      </p:sp>
      <p:sp>
        <p:nvSpPr>
          <p:cNvPr id="236" name="Google Shape;236;p20"/>
          <p:cNvSpPr/>
          <p:nvPr/>
        </p:nvSpPr>
        <p:spPr>
          <a:xfrm>
            <a:off x="7593806" y="7169706"/>
            <a:ext cx="6159460" cy="289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00"/>
              <a:buFont typeface="Lato"/>
              <a:buNone/>
            </a:pPr>
            <a:r>
              <a:rPr lang="en-US" sz="16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Allows users to download the generated diet plan as a text file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"/>
          <p:cNvSpPr/>
          <p:nvPr/>
        </p:nvSpPr>
        <p:spPr>
          <a:xfrm>
            <a:off x="189740" y="280157"/>
            <a:ext cx="122091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4450"/>
              <a:buFont typeface="Lato"/>
              <a:buNone/>
            </a:pPr>
            <a:r>
              <a:rPr b="1" lang="en-US" sz="4450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Proof of Prompts Generating Codes</a:t>
            </a:r>
            <a:endParaRPr b="0" i="0" sz="4450" u="none" cap="none" strike="noStrike"/>
          </a:p>
        </p:txBody>
      </p:sp>
      <p:pic>
        <p:nvPicPr>
          <p:cNvPr id="243" name="Google Shape;243;p21" title="Screenshot 2026-04-15 2342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3100" y="2109462"/>
            <a:ext cx="4792432" cy="280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 title="Screenshot 2026-04-15 23430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26176" y="1752278"/>
            <a:ext cx="4606476" cy="3151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 title="Screenshot 2026-04-15 23431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53000" y="5144700"/>
            <a:ext cx="5822522" cy="2801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 title="Screenshot 2026-04-15 23432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26176" y="5144700"/>
            <a:ext cx="4606475" cy="2801474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 txBox="1"/>
          <p:nvPr/>
        </p:nvSpPr>
        <p:spPr>
          <a:xfrm>
            <a:off x="189738" y="1166788"/>
            <a:ext cx="78762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LIVE LINK:  </a:t>
            </a:r>
            <a:r>
              <a:rPr b="1" lang="en-US" sz="2400" u="sng">
                <a:solidFill>
                  <a:schemeClr val="hlink"/>
                </a:solidFill>
                <a:hlinkClick r:id="rId7"/>
              </a:rPr>
              <a:t>https://rohannamuthabaji.github.io/NutriAi/</a:t>
            </a:r>
            <a:endParaRPr b="1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"/>
          <p:cNvSpPr/>
          <p:nvPr/>
        </p:nvSpPr>
        <p:spPr>
          <a:xfrm>
            <a:off x="706993" y="613053"/>
            <a:ext cx="10810161" cy="6312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3950"/>
              <a:buFont typeface="Lato"/>
              <a:buNone/>
            </a:pPr>
            <a:r>
              <a:rPr b="1" lang="en-US" sz="3950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References &amp; Resources</a:t>
            </a:r>
            <a:endParaRPr b="0" i="0" sz="3950" u="none" cap="none" strike="noStrike"/>
          </a:p>
        </p:txBody>
      </p:sp>
      <p:pic>
        <p:nvPicPr>
          <p:cNvPr descr="preencoded.png" id="254" name="Google Shape;25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993" y="1604129"/>
            <a:ext cx="504944" cy="504944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2"/>
          <p:cNvSpPr/>
          <p:nvPr/>
        </p:nvSpPr>
        <p:spPr>
          <a:xfrm>
            <a:off x="706993" y="2333863"/>
            <a:ext cx="2525197" cy="315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950"/>
              <a:buFont typeface="Lato"/>
              <a:buNone/>
            </a:pPr>
            <a:r>
              <a:rPr b="1" lang="en-US" sz="21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AI Tools</a:t>
            </a:r>
            <a:endParaRPr b="1" i="0" sz="2150" u="none" cap="none" strike="noStrike"/>
          </a:p>
        </p:txBody>
      </p:sp>
      <p:sp>
        <p:nvSpPr>
          <p:cNvPr id="256" name="Google Shape;256;p22"/>
          <p:cNvSpPr/>
          <p:nvPr/>
        </p:nvSpPr>
        <p:spPr>
          <a:xfrm>
            <a:off x="706993" y="2757368"/>
            <a:ext cx="6495812" cy="611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50"/>
              <a:buFont typeface="Lato"/>
              <a:buNone/>
            </a:pPr>
            <a:r>
              <a:rPr lang="en-US" sz="2000"/>
              <a:t>ChatGPT and Claude used for code generation, debugging, and UI improvements</a:t>
            </a:r>
            <a:endParaRPr sz="2000"/>
          </a:p>
        </p:txBody>
      </p:sp>
      <p:pic>
        <p:nvPicPr>
          <p:cNvPr descr="preencoded.png" id="257" name="Google Shape;25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7595" y="1604129"/>
            <a:ext cx="504944" cy="504944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2"/>
          <p:cNvSpPr/>
          <p:nvPr/>
        </p:nvSpPr>
        <p:spPr>
          <a:xfrm>
            <a:off x="7427595" y="2333863"/>
            <a:ext cx="2588300" cy="315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950"/>
              <a:buFont typeface="Lato"/>
              <a:buNone/>
            </a:pPr>
            <a:r>
              <a:rPr b="1" lang="en-US" sz="21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Web Documentation</a:t>
            </a:r>
            <a:endParaRPr b="0" i="0" sz="2150" u="none" cap="none" strike="noStrike"/>
          </a:p>
        </p:txBody>
      </p:sp>
      <p:sp>
        <p:nvSpPr>
          <p:cNvPr id="259" name="Google Shape;259;p22"/>
          <p:cNvSpPr/>
          <p:nvPr/>
        </p:nvSpPr>
        <p:spPr>
          <a:xfrm>
            <a:off x="7427595" y="2757368"/>
            <a:ext cx="6495812" cy="611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4A4A45"/>
                </a:solidFill>
              </a:rPr>
              <a:t>MDN Web Docs for HTML, CSS, and JavaScript concepts</a:t>
            </a:r>
            <a:endParaRPr sz="2000">
              <a:solidFill>
                <a:srgbClr val="4A4A45"/>
              </a:solidFill>
            </a:endParaRPr>
          </a:p>
          <a:p>
            <a:pPr indent="0" lvl="0" marL="0" marR="0" rtl="0" algn="l">
              <a:lnSpc>
                <a:spcPct val="154838"/>
              </a:lnSpc>
              <a:spcBef>
                <a:spcPts val="1200"/>
              </a:spcBef>
              <a:spcAft>
                <a:spcPts val="0"/>
              </a:spcAft>
              <a:buClr>
                <a:srgbClr val="4A4A45"/>
              </a:buClr>
              <a:buSzPts val="1550"/>
              <a:buFont typeface="Lato"/>
              <a:buNone/>
            </a:pPr>
            <a:r>
              <a:t/>
            </a:r>
            <a:endParaRPr sz="2000">
              <a:solidFill>
                <a:srgbClr val="4A4A45"/>
              </a:solidFill>
            </a:endParaRPr>
          </a:p>
        </p:txBody>
      </p:sp>
      <p:pic>
        <p:nvPicPr>
          <p:cNvPr descr="preencoded.png" id="260" name="Google Shape;26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993" y="3728204"/>
            <a:ext cx="504944" cy="504944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2"/>
          <p:cNvSpPr/>
          <p:nvPr/>
        </p:nvSpPr>
        <p:spPr>
          <a:xfrm>
            <a:off x="707002" y="4457953"/>
            <a:ext cx="3409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950"/>
              <a:buFont typeface="Lato"/>
              <a:buNone/>
            </a:pPr>
            <a:r>
              <a:rPr b="1" lang="en-US" sz="21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Development Platform</a:t>
            </a:r>
            <a:endParaRPr b="0" i="0" sz="2150" u="none" cap="none" strike="noStrike"/>
          </a:p>
        </p:txBody>
      </p:sp>
      <p:sp>
        <p:nvSpPr>
          <p:cNvPr id="262" name="Google Shape;262;p22"/>
          <p:cNvSpPr/>
          <p:nvPr/>
        </p:nvSpPr>
        <p:spPr>
          <a:xfrm>
            <a:off x="706993" y="4881443"/>
            <a:ext cx="6495812" cy="611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50"/>
              <a:buFont typeface="Lato"/>
              <a:buNone/>
            </a:pPr>
            <a:r>
              <a:rPr lang="en-US" sz="20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GitHub for version control and project management</a:t>
            </a:r>
            <a:endParaRPr b="0" i="0" sz="2000" u="none" cap="none" strike="noStrike"/>
          </a:p>
        </p:txBody>
      </p:sp>
      <p:pic>
        <p:nvPicPr>
          <p:cNvPr descr="preencoded.png" id="263" name="Google Shape;26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7595" y="3728204"/>
            <a:ext cx="504944" cy="504944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2"/>
          <p:cNvSpPr/>
          <p:nvPr/>
        </p:nvSpPr>
        <p:spPr>
          <a:xfrm>
            <a:off x="7427595" y="4457938"/>
            <a:ext cx="2525197" cy="315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950"/>
              <a:buFont typeface="Lato"/>
              <a:buNone/>
            </a:pPr>
            <a:r>
              <a:rPr b="1" lang="en-US" sz="21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Technical Concepts</a:t>
            </a:r>
            <a:endParaRPr b="0" i="0" sz="2150" u="none" cap="none" strike="noStrike"/>
          </a:p>
        </p:txBody>
      </p:sp>
      <p:sp>
        <p:nvSpPr>
          <p:cNvPr id="265" name="Google Shape;265;p22"/>
          <p:cNvSpPr/>
          <p:nvPr/>
        </p:nvSpPr>
        <p:spPr>
          <a:xfrm>
            <a:off x="7427595" y="4881443"/>
            <a:ext cx="6495812" cy="611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50"/>
              <a:buFont typeface="Lato"/>
              <a:buNone/>
            </a:pPr>
            <a:r>
              <a:rPr lang="en-US" sz="20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Mifflin-St Jeor formula for TDEE calculation and BMI standards</a:t>
            </a:r>
            <a:endParaRPr b="0" i="0" sz="2000" u="none" cap="none" strike="noStrike"/>
          </a:p>
        </p:txBody>
      </p:sp>
      <p:pic>
        <p:nvPicPr>
          <p:cNvPr descr="preencoded.png" id="266" name="Google Shape;26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993" y="5852279"/>
            <a:ext cx="504944" cy="504944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2"/>
          <p:cNvSpPr/>
          <p:nvPr/>
        </p:nvSpPr>
        <p:spPr>
          <a:xfrm>
            <a:off x="707002" y="6582025"/>
            <a:ext cx="3618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950"/>
              <a:buFont typeface="Lato"/>
              <a:buNone/>
            </a:pPr>
            <a:r>
              <a:rPr b="1" lang="en-US" sz="21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Design References</a:t>
            </a:r>
            <a:endParaRPr b="0" i="0" sz="2150" u="none" cap="none" strike="noStrike"/>
          </a:p>
        </p:txBody>
      </p:sp>
      <p:sp>
        <p:nvSpPr>
          <p:cNvPr id="268" name="Google Shape;268;p22"/>
          <p:cNvSpPr/>
          <p:nvPr/>
        </p:nvSpPr>
        <p:spPr>
          <a:xfrm>
            <a:off x="706993" y="7005518"/>
            <a:ext cx="6495812" cy="611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50"/>
              <a:buFont typeface="Lato"/>
              <a:buNone/>
            </a:pPr>
            <a:r>
              <a:rPr lang="en-US" sz="20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UI/UX best practices for responsive and clean interface design</a:t>
            </a:r>
            <a:endParaRPr b="0" i="0" sz="2000" u="none" cap="none" strike="noStrike"/>
          </a:p>
        </p:txBody>
      </p:sp>
      <p:pic>
        <p:nvPicPr>
          <p:cNvPr descr="preencoded.png" id="269" name="Google Shape;26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7595" y="5852279"/>
            <a:ext cx="504944" cy="504944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2"/>
          <p:cNvSpPr/>
          <p:nvPr/>
        </p:nvSpPr>
        <p:spPr>
          <a:xfrm>
            <a:off x="7427602" y="6582028"/>
            <a:ext cx="3618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950"/>
              <a:buFont typeface="Lato"/>
              <a:buNone/>
            </a:pPr>
            <a:r>
              <a:rPr b="1" lang="en-US" sz="21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Additional Resources</a:t>
            </a:r>
            <a:endParaRPr b="0" i="0" sz="2150" u="none" cap="none" strike="noStrike"/>
          </a:p>
        </p:txBody>
      </p:sp>
      <p:sp>
        <p:nvSpPr>
          <p:cNvPr id="271" name="Google Shape;271;p22"/>
          <p:cNvSpPr/>
          <p:nvPr/>
        </p:nvSpPr>
        <p:spPr>
          <a:xfrm>
            <a:off x="7427595" y="7005518"/>
            <a:ext cx="6495812" cy="611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Online tutorials and web development learning platforms</a:t>
            </a:r>
            <a:endParaRPr sz="200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4838"/>
              </a:lnSpc>
              <a:spcBef>
                <a:spcPts val="1200"/>
              </a:spcBef>
              <a:spcAft>
                <a:spcPts val="0"/>
              </a:spcAft>
              <a:buClr>
                <a:srgbClr val="4A4A45"/>
              </a:buClr>
              <a:buSzPts val="1550"/>
              <a:buFont typeface="Lato"/>
              <a:buNone/>
            </a:pPr>
            <a:r>
              <a:t/>
            </a:r>
            <a:endParaRPr sz="200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3"/>
          <p:cNvSpPr txBox="1"/>
          <p:nvPr/>
        </p:nvSpPr>
        <p:spPr>
          <a:xfrm>
            <a:off x="3017300" y="3650100"/>
            <a:ext cx="8084700" cy="9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/>
              <a:t>THANK YOU</a:t>
            </a:r>
            <a:endParaRPr b="1" sz="7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